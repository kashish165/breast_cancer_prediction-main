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image" Target="../media/image-7-34.png"/><Relationship Id="rId35" Type="http://schemas.openxmlformats.org/officeDocument/2006/relationships/image" Target="../media/image-7-35.png"/><Relationship Id="rId36" Type="http://schemas.openxmlformats.org/officeDocument/2006/relationships/image" Target="../media/image-7-36.png"/><Relationship Id="rId37" Type="http://schemas.openxmlformats.org/officeDocument/2006/relationships/image" Target="../media/image-7-37.png"/><Relationship Id="rId38" Type="http://schemas.openxmlformats.org/officeDocument/2006/relationships/image" Target="../media/image-7-38.png"/><Relationship Id="rId39" Type="http://schemas.openxmlformats.org/officeDocument/2006/relationships/image" Target="../media/image-7-39.png"/><Relationship Id="rId40" Type="http://schemas.openxmlformats.org/officeDocument/2006/relationships/image" Target="../media/image-7-40.png"/><Relationship Id="rId41" Type="http://schemas.openxmlformats.org/officeDocument/2006/relationships/slideLayout" Target="../slideLayouts/slideLayout1.xml"/><Relationship Id="rId4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" cy="2438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4419600"/>
            <a:ext cx="2438400" cy="2438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9436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94360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425" y="59436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6425" y="59436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0" y="4000500"/>
            <a:ext cx="2857500" cy="28575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876300" y="619125"/>
            <a:ext cx="3594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b="1" dirty="0">
                <a:solidFill>
                  <a:srgbClr val="FFFFFF"/>
                </a:solidFill>
                <a:highlight>
                  <a:srgbClr val="0D9488"/>
                </a:highligh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Task 01 - Decision Trees</a:t>
            </a:r>
            <a:endParaRPr lang="en-US" sz="980" dirty="0"/>
          </a:p>
        </p:txBody>
      </p:sp>
      <p:sp>
        <p:nvSpPr>
          <p:cNvPr id="12" name="Text 1"/>
          <p:cNvSpPr/>
          <p:nvPr/>
        </p:nvSpPr>
        <p:spPr>
          <a:xfrm>
            <a:off x="762000" y="1924050"/>
            <a:ext cx="11734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4500"/>
              </a:lnSpc>
              <a:buNone/>
            </a:pPr>
            <a:r>
              <a:rPr lang="en-US" sz="3158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Breast Cancer Malignancy Prediction</a:t>
            </a:r>
            <a:endParaRPr lang="en-US" sz="3158" dirty="0"/>
          </a:p>
        </p:txBody>
      </p:sp>
      <p:sp>
        <p:nvSpPr>
          <p:cNvPr id="13" name="Text 2"/>
          <p:cNvSpPr/>
          <p:nvPr/>
        </p:nvSpPr>
        <p:spPr>
          <a:xfrm>
            <a:off x="762000" y="2647950"/>
            <a:ext cx="1173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Leveraging Machine Learning for Early Diagnostic Support</a:t>
            </a:r>
            <a:endParaRPr lang="en-US" sz="2040" dirty="0"/>
          </a:p>
        </p:txBody>
      </p:sp>
      <p:sp>
        <p:nvSpPr>
          <p:cNvPr id="14" name="Text 3"/>
          <p:cNvSpPr/>
          <p:nvPr/>
        </p:nvSpPr>
        <p:spPr>
          <a:xfrm>
            <a:off x="762000" y="4095750"/>
            <a:ext cx="1173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by:</a:t>
            </a:r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Waqar Khan, Muhammad Zarar</a:t>
            </a:r>
            <a:endParaRPr lang="en-US" sz="1380" dirty="0"/>
          </a:p>
        </p:txBody>
      </p:sp>
      <p:sp>
        <p:nvSpPr>
          <p:cNvPr id="15" name="Text 4"/>
          <p:cNvSpPr/>
          <p:nvPr/>
        </p:nvSpPr>
        <p:spPr>
          <a:xfrm>
            <a:off x="762000" y="4438650"/>
            <a:ext cx="1173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 no: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5EEA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SP24-BAI-055, SP24-BAI-039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14500"/>
            <a:ext cx="5524500" cy="133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94310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0574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276600"/>
            <a:ext cx="5524500" cy="1333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505200"/>
            <a:ext cx="400050" cy="533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61950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4838700"/>
            <a:ext cx="5524500" cy="1600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067300"/>
            <a:ext cx="457200" cy="533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51816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1714500"/>
            <a:ext cx="5524500" cy="5105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3475" y="2019300"/>
            <a:ext cx="590550" cy="647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5875" y="21717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35623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424815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48006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5353050"/>
            <a:ext cx="190500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190500"/>
            <a:ext cx="5554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Malignancy Prediction</a:t>
            </a:r>
            <a:endParaRPr lang="en-US" sz="2040" dirty="0"/>
          </a:p>
        </p:txBody>
      </p:sp>
      <p:sp>
        <p:nvSpPr>
          <p:cNvPr id="21" name="Text 1"/>
          <p:cNvSpPr/>
          <p:nvPr/>
        </p:nvSpPr>
        <p:spPr>
          <a:xfrm>
            <a:off x="8373219" y="228600"/>
            <a:ext cx="3781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1380" dirty="0"/>
          </a:p>
        </p:txBody>
      </p:sp>
      <p:sp>
        <p:nvSpPr>
          <p:cNvPr id="22" name="Text 2"/>
          <p:cNvSpPr/>
          <p:nvPr/>
        </p:nvSpPr>
        <p:spPr>
          <a:xfrm>
            <a:off x="-190500" y="1104900"/>
            <a:ext cx="1257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Diagnostic Imperative</a:t>
            </a:r>
            <a:endParaRPr lang="en-US" sz="1646" dirty="0"/>
          </a:p>
        </p:txBody>
      </p:sp>
      <p:sp>
        <p:nvSpPr>
          <p:cNvPr id="23" name="Text 3"/>
          <p:cNvSpPr/>
          <p:nvPr/>
        </p:nvSpPr>
        <p:spPr>
          <a:xfrm>
            <a:off x="1219200" y="1943100"/>
            <a:ext cx="4903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Health Challenge</a:t>
            </a:r>
            <a:endParaRPr lang="en-US" sz="1380" dirty="0"/>
          </a:p>
        </p:txBody>
      </p:sp>
      <p:sp>
        <p:nvSpPr>
          <p:cNvPr id="24" name="Text 4"/>
          <p:cNvSpPr/>
          <p:nvPr/>
        </p:nvSpPr>
        <p:spPr>
          <a:xfrm>
            <a:off x="1219200" y="2286000"/>
            <a:ext cx="445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stands as a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cause of mortality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women worldwide.</a:t>
            </a:r>
            <a:endParaRPr lang="en-US" sz="1260" dirty="0"/>
          </a:p>
        </p:txBody>
      </p:sp>
      <p:sp>
        <p:nvSpPr>
          <p:cNvPr id="25" name="Text 5"/>
          <p:cNvSpPr/>
          <p:nvPr/>
        </p:nvSpPr>
        <p:spPr>
          <a:xfrm>
            <a:off x="1162050" y="3505200"/>
            <a:ext cx="49663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Goal</a:t>
            </a:r>
            <a:endParaRPr lang="en-US" sz="1380" dirty="0"/>
          </a:p>
        </p:txBody>
      </p:sp>
      <p:sp>
        <p:nvSpPr>
          <p:cNvPr id="26" name="Text 6"/>
          <p:cNvSpPr/>
          <p:nvPr/>
        </p:nvSpPr>
        <p:spPr>
          <a:xfrm>
            <a:off x="1162050" y="3848100"/>
            <a:ext cx="4514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and accurate diagnosis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single most important factor for improving patient survival rates.</a:t>
            </a:r>
            <a:endParaRPr lang="en-US" sz="1260" dirty="0"/>
          </a:p>
        </p:txBody>
      </p:sp>
      <p:sp>
        <p:nvSpPr>
          <p:cNvPr id="27" name="Text 7"/>
          <p:cNvSpPr/>
          <p:nvPr/>
        </p:nvSpPr>
        <p:spPr>
          <a:xfrm>
            <a:off x="1219200" y="5067300"/>
            <a:ext cx="4903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380" dirty="0"/>
          </a:p>
        </p:txBody>
      </p:sp>
      <p:sp>
        <p:nvSpPr>
          <p:cNvPr id="28" name="Text 8"/>
          <p:cNvSpPr/>
          <p:nvPr/>
        </p:nvSpPr>
        <p:spPr>
          <a:xfrm>
            <a:off x="1219200" y="5410200"/>
            <a:ext cx="4457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tumor masses as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vs. Malignant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cellular analysis is a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high-stakes, time-sensitive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demanding precision and reliability.</a:t>
            </a:r>
            <a:endParaRPr lang="en-US" sz="1260" dirty="0"/>
          </a:p>
        </p:txBody>
      </p:sp>
      <p:sp>
        <p:nvSpPr>
          <p:cNvPr id="29" name="Text 9"/>
          <p:cNvSpPr/>
          <p:nvPr/>
        </p:nvSpPr>
        <p:spPr>
          <a:xfrm>
            <a:off x="6345555" y="2895600"/>
            <a:ext cx="54063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</a:t>
            </a:r>
            <a:endParaRPr lang="en-US" sz="1646" dirty="0"/>
          </a:p>
        </p:txBody>
      </p:sp>
      <p:sp>
        <p:nvSpPr>
          <p:cNvPr id="30" name="Text 10"/>
          <p:cNvSpPr/>
          <p:nvPr/>
        </p:nvSpPr>
        <p:spPr>
          <a:xfrm>
            <a:off x="6896100" y="3429000"/>
            <a:ext cx="4610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robust, data-driven tool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assist medical professionals</a:t>
            </a:r>
            <a:endParaRPr lang="en-US" sz="1260" dirty="0"/>
          </a:p>
        </p:txBody>
      </p:sp>
      <p:sp>
        <p:nvSpPr>
          <p:cNvPr id="31" name="Text 11"/>
          <p:cNvSpPr/>
          <p:nvPr/>
        </p:nvSpPr>
        <p:spPr>
          <a:xfrm>
            <a:off x="6896100" y="4114800"/>
            <a:ext cx="4610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tumor masses (Benign/Malignant)</a:t>
            </a:r>
            <a:endParaRPr lang="en-US" sz="1260" dirty="0"/>
          </a:p>
        </p:txBody>
      </p:sp>
      <p:sp>
        <p:nvSpPr>
          <p:cNvPr id="32" name="Text 12"/>
          <p:cNvSpPr/>
          <p:nvPr/>
        </p:nvSpPr>
        <p:spPr>
          <a:xfrm>
            <a:off x="6896100" y="4800600"/>
            <a:ext cx="4989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support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decision-making process</a:t>
            </a:r>
            <a:endParaRPr lang="en-US" sz="1260" dirty="0"/>
          </a:p>
        </p:txBody>
      </p:sp>
      <p:sp>
        <p:nvSpPr>
          <p:cNvPr id="33" name="Text 13"/>
          <p:cNvSpPr/>
          <p:nvPr/>
        </p:nvSpPr>
        <p:spPr>
          <a:xfrm>
            <a:off x="6896100" y="5219700"/>
            <a:ext cx="4610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outcomes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earlier and more accurate detection</a:t>
            </a:r>
            <a:endParaRPr lang="en-US" sz="1260" dirty="0"/>
          </a:p>
        </p:txBody>
      </p:sp>
      <p:sp>
        <p:nvSpPr>
          <p:cNvPr id="34" name="Text 14"/>
          <p:cNvSpPr/>
          <p:nvPr/>
        </p:nvSpPr>
        <p:spPr>
          <a:xfrm>
            <a:off x="6591300" y="598170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60" i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imperative for early and accurate diagnosis cannot be overstated."</a:t>
            </a:r>
            <a:endParaRPr lang="en-US" sz="1260" dirty="0"/>
          </a:p>
        </p:txBody>
      </p:sp>
      <p:sp>
        <p:nvSpPr>
          <p:cNvPr id="35" name="Text 15"/>
          <p:cNvSpPr/>
          <p:nvPr/>
        </p:nvSpPr>
        <p:spPr>
          <a:xfrm>
            <a:off x="381000" y="7315200"/>
            <a:ext cx="2647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991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85900"/>
            <a:ext cx="11582400" cy="952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95450"/>
            <a:ext cx="428625" cy="533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80975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667000"/>
            <a:ext cx="5676900" cy="1104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867025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924300"/>
            <a:ext cx="5676900" cy="2286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124325"/>
            <a:ext cx="190500" cy="1714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762500"/>
            <a:ext cx="1739801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3201" y="4762500"/>
            <a:ext cx="173995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9350" y="4762500"/>
            <a:ext cx="1739950" cy="381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5219700"/>
            <a:ext cx="1739801" cy="381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73201" y="5219700"/>
            <a:ext cx="1739950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89350" y="5219700"/>
            <a:ext cx="1739950" cy="381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5676900"/>
            <a:ext cx="1739801" cy="381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73201" y="5676900"/>
            <a:ext cx="173995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089350" y="5676900"/>
            <a:ext cx="1739950" cy="3810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4800" y="6362700"/>
            <a:ext cx="5676900" cy="876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6562725"/>
            <a:ext cx="152400" cy="1714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0300" y="2667000"/>
            <a:ext cx="5676900" cy="2857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62700" y="2867025"/>
            <a:ext cx="219075" cy="1714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62700" y="3162300"/>
            <a:ext cx="5372100" cy="19431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3276600"/>
            <a:ext cx="3810000" cy="17145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62700" y="5210175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0300" y="5676900"/>
            <a:ext cx="5676900" cy="14478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62700" y="5876925"/>
            <a:ext cx="190500" cy="1714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62700" y="6172200"/>
            <a:ext cx="5372100" cy="8001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6286500"/>
            <a:ext cx="3810000" cy="5715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381000" y="190500"/>
            <a:ext cx="5554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Malignancy Prediction</a:t>
            </a:r>
            <a:endParaRPr lang="en-US" sz="2040" dirty="0"/>
          </a:p>
        </p:txBody>
      </p:sp>
      <p:sp>
        <p:nvSpPr>
          <p:cNvPr id="32" name="Text 1"/>
          <p:cNvSpPr/>
          <p:nvPr/>
        </p:nvSpPr>
        <p:spPr>
          <a:xfrm>
            <a:off x="8373219" y="228600"/>
            <a:ext cx="3781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1380" dirty="0"/>
          </a:p>
        </p:txBody>
      </p:sp>
      <p:sp>
        <p:nvSpPr>
          <p:cNvPr id="33" name="Text 2"/>
          <p:cNvSpPr/>
          <p:nvPr/>
        </p:nvSpPr>
        <p:spPr>
          <a:xfrm>
            <a:off x="-274320" y="1028700"/>
            <a:ext cx="1274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</a:t>
            </a:r>
            <a:endParaRPr lang="en-US" sz="1646" dirty="0"/>
          </a:p>
        </p:txBody>
      </p:sp>
      <p:sp>
        <p:nvSpPr>
          <p:cNvPr id="34" name="Text 3"/>
          <p:cNvSpPr/>
          <p:nvPr/>
        </p:nvSpPr>
        <p:spPr>
          <a:xfrm>
            <a:off x="1076325" y="1676400"/>
            <a:ext cx="5319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Wisconsin Diagnostic Breast Cancer (WDBC) Dataset</a:t>
            </a:r>
            <a:endParaRPr lang="en-US" sz="1380" dirty="0"/>
          </a:p>
        </p:txBody>
      </p:sp>
      <p:sp>
        <p:nvSpPr>
          <p:cNvPr id="35" name="Text 4"/>
          <p:cNvSpPr/>
          <p:nvPr/>
        </p:nvSpPr>
        <p:spPr>
          <a:xfrm>
            <a:off x="1076325" y="1981200"/>
            <a:ext cx="5319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569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 (patients) with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60" dirty="0"/>
          </a:p>
        </p:txBody>
      </p:sp>
      <p:sp>
        <p:nvSpPr>
          <p:cNvPr id="36" name="Text 5"/>
          <p:cNvSpPr/>
          <p:nvPr/>
        </p:nvSpPr>
        <p:spPr>
          <a:xfrm>
            <a:off x="704850" y="2819400"/>
            <a:ext cx="5909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1260" dirty="0"/>
          </a:p>
        </p:txBody>
      </p:sp>
      <p:sp>
        <p:nvSpPr>
          <p:cNvPr id="37" name="Text 6"/>
          <p:cNvSpPr/>
          <p:nvPr/>
        </p:nvSpPr>
        <p:spPr>
          <a:xfrm>
            <a:off x="457200" y="3162300"/>
            <a:ext cx="5372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computed from digitized images of a Fine Needle Aspirate (FNA) of breast masses.</a:t>
            </a:r>
            <a:endParaRPr lang="en-US" sz="1120" dirty="0"/>
          </a:p>
        </p:txBody>
      </p:sp>
      <p:sp>
        <p:nvSpPr>
          <p:cNvPr id="38" name="Text 7"/>
          <p:cNvSpPr/>
          <p:nvPr/>
        </p:nvSpPr>
        <p:spPr>
          <a:xfrm>
            <a:off x="723900" y="4076700"/>
            <a:ext cx="5909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</a:t>
            </a:r>
            <a:endParaRPr lang="en-US" sz="1260" dirty="0"/>
          </a:p>
        </p:txBody>
      </p:sp>
      <p:sp>
        <p:nvSpPr>
          <p:cNvPr id="39" name="Text 8"/>
          <p:cNvSpPr/>
          <p:nvPr/>
        </p:nvSpPr>
        <p:spPr>
          <a:xfrm>
            <a:off x="457200" y="4419600"/>
            <a:ext cx="5909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measurements, each with 3 values (mean, standard error, worst):</a:t>
            </a:r>
            <a:endParaRPr lang="en-US" sz="1120" dirty="0"/>
          </a:p>
        </p:txBody>
      </p:sp>
      <p:sp>
        <p:nvSpPr>
          <p:cNvPr id="40" name="Text 9"/>
          <p:cNvSpPr/>
          <p:nvPr/>
        </p:nvSpPr>
        <p:spPr>
          <a:xfrm>
            <a:off x="370210" y="4762500"/>
            <a:ext cx="19137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</a:t>
            </a:r>
            <a:endParaRPr lang="en-US" sz="1120" dirty="0"/>
          </a:p>
        </p:txBody>
      </p:sp>
      <p:sp>
        <p:nvSpPr>
          <p:cNvPr id="41" name="Text 10"/>
          <p:cNvSpPr/>
          <p:nvPr/>
        </p:nvSpPr>
        <p:spPr>
          <a:xfrm>
            <a:off x="2186203" y="4762500"/>
            <a:ext cx="1913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texture</a:t>
            </a:r>
            <a:endParaRPr lang="en-US" sz="1120" dirty="0"/>
          </a:p>
        </p:txBody>
      </p:sp>
      <p:sp>
        <p:nvSpPr>
          <p:cNvPr id="42" name="Text 11"/>
          <p:cNvSpPr/>
          <p:nvPr/>
        </p:nvSpPr>
        <p:spPr>
          <a:xfrm>
            <a:off x="4002353" y="4762500"/>
            <a:ext cx="1913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</a:t>
            </a:r>
            <a:endParaRPr lang="en-US" sz="1120" dirty="0"/>
          </a:p>
        </p:txBody>
      </p:sp>
      <p:sp>
        <p:nvSpPr>
          <p:cNvPr id="43" name="Text 12"/>
          <p:cNvSpPr/>
          <p:nvPr/>
        </p:nvSpPr>
        <p:spPr>
          <a:xfrm>
            <a:off x="370210" y="5219700"/>
            <a:ext cx="19137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120" dirty="0"/>
          </a:p>
        </p:txBody>
      </p:sp>
      <p:sp>
        <p:nvSpPr>
          <p:cNvPr id="44" name="Text 13"/>
          <p:cNvSpPr/>
          <p:nvPr/>
        </p:nvSpPr>
        <p:spPr>
          <a:xfrm>
            <a:off x="2186203" y="5219700"/>
            <a:ext cx="1913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compactness</a:t>
            </a:r>
            <a:endParaRPr lang="en-US" sz="1120" dirty="0"/>
          </a:p>
        </p:txBody>
      </p:sp>
      <p:sp>
        <p:nvSpPr>
          <p:cNvPr id="45" name="Text 14"/>
          <p:cNvSpPr/>
          <p:nvPr/>
        </p:nvSpPr>
        <p:spPr>
          <a:xfrm>
            <a:off x="4002353" y="5219700"/>
            <a:ext cx="1913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concavity</a:t>
            </a:r>
            <a:endParaRPr lang="en-US" sz="1120" dirty="0"/>
          </a:p>
        </p:txBody>
      </p:sp>
      <p:sp>
        <p:nvSpPr>
          <p:cNvPr id="46" name="Text 15"/>
          <p:cNvSpPr/>
          <p:nvPr/>
        </p:nvSpPr>
        <p:spPr>
          <a:xfrm>
            <a:off x="370210" y="5676900"/>
            <a:ext cx="19137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concave points</a:t>
            </a:r>
            <a:endParaRPr lang="en-US" sz="1120" dirty="0"/>
          </a:p>
        </p:txBody>
      </p:sp>
      <p:sp>
        <p:nvSpPr>
          <p:cNvPr id="47" name="Text 16"/>
          <p:cNvSpPr/>
          <p:nvPr/>
        </p:nvSpPr>
        <p:spPr>
          <a:xfrm>
            <a:off x="2186203" y="5676900"/>
            <a:ext cx="1913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symmetry</a:t>
            </a:r>
            <a:endParaRPr lang="en-US" sz="1120" dirty="0"/>
          </a:p>
        </p:txBody>
      </p:sp>
      <p:sp>
        <p:nvSpPr>
          <p:cNvPr id="48" name="Text 17"/>
          <p:cNvSpPr/>
          <p:nvPr/>
        </p:nvSpPr>
        <p:spPr>
          <a:xfrm>
            <a:off x="4002353" y="5676900"/>
            <a:ext cx="19139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fractal dimension</a:t>
            </a:r>
            <a:endParaRPr lang="en-US" sz="1120" dirty="0"/>
          </a:p>
        </p:txBody>
      </p:sp>
      <p:sp>
        <p:nvSpPr>
          <p:cNvPr id="49" name="Text 18"/>
          <p:cNvSpPr/>
          <p:nvPr/>
        </p:nvSpPr>
        <p:spPr>
          <a:xfrm>
            <a:off x="685800" y="6515100"/>
            <a:ext cx="5909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1260" dirty="0"/>
          </a:p>
        </p:txBody>
      </p:sp>
      <p:sp>
        <p:nvSpPr>
          <p:cNvPr id="50" name="Text 19"/>
          <p:cNvSpPr/>
          <p:nvPr/>
        </p:nvSpPr>
        <p:spPr>
          <a:xfrm>
            <a:off x="457200" y="6858000"/>
            <a:ext cx="5909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alignant or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enign</a:t>
            </a:r>
            <a:endParaRPr lang="en-US" sz="1120" dirty="0"/>
          </a:p>
        </p:txBody>
      </p:sp>
      <p:sp>
        <p:nvSpPr>
          <p:cNvPr id="51" name="Text 20"/>
          <p:cNvSpPr/>
          <p:nvPr/>
        </p:nvSpPr>
        <p:spPr>
          <a:xfrm>
            <a:off x="6657975" y="2819400"/>
            <a:ext cx="5909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Distribution</a:t>
            </a:r>
            <a:endParaRPr lang="en-US" sz="1260" dirty="0"/>
          </a:p>
        </p:txBody>
      </p:sp>
      <p:sp>
        <p:nvSpPr>
          <p:cNvPr id="52" name="Text 21"/>
          <p:cNvSpPr/>
          <p:nvPr/>
        </p:nvSpPr>
        <p:spPr>
          <a:xfrm>
            <a:off x="6534150" y="5181600"/>
            <a:ext cx="59093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Slight class imbalance (357 Benign vs. 212 Malignant)</a:t>
            </a:r>
            <a:endParaRPr lang="en-US" sz="980" dirty="0"/>
          </a:p>
        </p:txBody>
      </p:sp>
      <p:sp>
        <p:nvSpPr>
          <p:cNvPr id="53" name="Text 22"/>
          <p:cNvSpPr/>
          <p:nvPr/>
        </p:nvSpPr>
        <p:spPr>
          <a:xfrm>
            <a:off x="6629400" y="5829300"/>
            <a:ext cx="5909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Structure</a:t>
            </a:r>
            <a:endParaRPr lang="en-US" sz="1260" dirty="0"/>
          </a:p>
        </p:txBody>
      </p:sp>
      <p:sp>
        <p:nvSpPr>
          <p:cNvPr id="54" name="Text 23"/>
          <p:cNvSpPr/>
          <p:nvPr/>
        </p:nvSpPr>
        <p:spPr>
          <a:xfrm>
            <a:off x="381000" y="8686800"/>
            <a:ext cx="2647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943100"/>
            <a:ext cx="3689300" cy="1676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71700"/>
            <a:ext cx="514350" cy="533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2860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895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2004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0300" y="2609850"/>
            <a:ext cx="180975" cy="34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1275" y="1714500"/>
            <a:ext cx="3689300" cy="2133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9875" y="1943100"/>
            <a:ext cx="457200" cy="533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4175" y="20574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2275" y="26670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2275" y="32004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40576" y="2609850"/>
            <a:ext cx="180975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21551" y="1943100"/>
            <a:ext cx="3689300" cy="1676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50151" y="2171700"/>
            <a:ext cx="457200" cy="533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4451" y="22860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02551" y="2895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502551" y="3200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4152900"/>
            <a:ext cx="11430000" cy="13716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" y="4419600"/>
            <a:ext cx="142875" cy="1905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190500"/>
            <a:ext cx="5554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Malignancy Prediction</a:t>
            </a:r>
            <a:endParaRPr lang="en-US" sz="2040" dirty="0"/>
          </a:p>
        </p:txBody>
      </p:sp>
      <p:sp>
        <p:nvSpPr>
          <p:cNvPr id="25" name="Text 1"/>
          <p:cNvSpPr/>
          <p:nvPr/>
        </p:nvSpPr>
        <p:spPr>
          <a:xfrm>
            <a:off x="8373219" y="228600"/>
            <a:ext cx="3781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1380" dirty="0"/>
          </a:p>
        </p:txBody>
      </p:sp>
      <p:sp>
        <p:nvSpPr>
          <p:cNvPr id="26" name="Text 2"/>
          <p:cNvSpPr/>
          <p:nvPr/>
        </p:nvSpPr>
        <p:spPr>
          <a:xfrm>
            <a:off x="-190500" y="1104900"/>
            <a:ext cx="1257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Data for the Model</a:t>
            </a:r>
            <a:endParaRPr lang="en-US" sz="1646" dirty="0"/>
          </a:p>
        </p:txBody>
      </p:sp>
      <p:sp>
        <p:nvSpPr>
          <p:cNvPr id="27" name="Text 3"/>
          <p:cNvSpPr/>
          <p:nvPr/>
        </p:nvSpPr>
        <p:spPr>
          <a:xfrm>
            <a:off x="1276350" y="2305050"/>
            <a:ext cx="16303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Cleaning</a:t>
            </a:r>
            <a:endParaRPr lang="en-US" sz="1380" dirty="0"/>
          </a:p>
        </p:txBody>
      </p:sp>
      <p:sp>
        <p:nvSpPr>
          <p:cNvPr id="28" name="Text 4"/>
          <p:cNvSpPr/>
          <p:nvPr/>
        </p:nvSpPr>
        <p:spPr>
          <a:xfrm>
            <a:off x="990600" y="2857500"/>
            <a:ext cx="2776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non-predictive columns (id)</a:t>
            </a:r>
            <a:endParaRPr lang="en-US" sz="1120" dirty="0"/>
          </a:p>
        </p:txBody>
      </p:sp>
      <p:sp>
        <p:nvSpPr>
          <p:cNvPr id="29" name="Text 5"/>
          <p:cNvSpPr/>
          <p:nvPr/>
        </p:nvSpPr>
        <p:spPr>
          <a:xfrm>
            <a:off x="990600" y="3162300"/>
            <a:ext cx="3065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all-null column (Unnamed: 32)</a:t>
            </a:r>
            <a:endParaRPr lang="en-US" sz="1120" dirty="0"/>
          </a:p>
        </p:txBody>
      </p:sp>
      <p:sp>
        <p:nvSpPr>
          <p:cNvPr id="30" name="Text 6"/>
          <p:cNvSpPr/>
          <p:nvPr/>
        </p:nvSpPr>
        <p:spPr>
          <a:xfrm>
            <a:off x="5089475" y="2076450"/>
            <a:ext cx="23870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Categorical Encoding</a:t>
            </a:r>
            <a:endParaRPr lang="en-US" sz="1380" dirty="0"/>
          </a:p>
        </p:txBody>
      </p:sp>
      <p:sp>
        <p:nvSpPr>
          <p:cNvPr id="31" name="Text 7"/>
          <p:cNvSpPr/>
          <p:nvPr/>
        </p:nvSpPr>
        <p:spPr>
          <a:xfrm>
            <a:off x="4860875" y="2628900"/>
            <a:ext cx="285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diagnosis from ('M', 'B') to numerical</a:t>
            </a:r>
            <a:endParaRPr lang="en-US" sz="1120" dirty="0"/>
          </a:p>
        </p:txBody>
      </p:sp>
      <p:sp>
        <p:nvSpPr>
          <p:cNvPr id="32" name="Text 8"/>
          <p:cNvSpPr/>
          <p:nvPr/>
        </p:nvSpPr>
        <p:spPr>
          <a:xfrm>
            <a:off x="4860875" y="3162300"/>
            <a:ext cx="285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Mapping:</a:t>
            </a:r>
            <a:pPr algn="l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(M)=1</a:t>
            </a:r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l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(B)=0</a:t>
            </a:r>
            <a:endParaRPr lang="en-US" sz="1120" dirty="0"/>
          </a:p>
        </p:txBody>
      </p:sp>
      <p:sp>
        <p:nvSpPr>
          <p:cNvPr id="33" name="Text 9"/>
          <p:cNvSpPr/>
          <p:nvPr/>
        </p:nvSpPr>
        <p:spPr>
          <a:xfrm>
            <a:off x="8959751" y="2305050"/>
            <a:ext cx="17934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Feature Scaling</a:t>
            </a:r>
            <a:endParaRPr lang="en-US" sz="1380" dirty="0"/>
          </a:p>
        </p:txBody>
      </p:sp>
      <p:sp>
        <p:nvSpPr>
          <p:cNvPr id="34" name="Text 10"/>
          <p:cNvSpPr/>
          <p:nvPr/>
        </p:nvSpPr>
        <p:spPr>
          <a:xfrm>
            <a:off x="8731151" y="2857500"/>
            <a:ext cx="3121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</a:t>
            </a:r>
            <a:pPr algn="l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</a:t>
            </a:r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all 30 features</a:t>
            </a:r>
            <a:endParaRPr lang="en-US" sz="1120" dirty="0"/>
          </a:p>
        </p:txBody>
      </p:sp>
      <p:sp>
        <p:nvSpPr>
          <p:cNvPr id="35" name="Text 11"/>
          <p:cNvSpPr/>
          <p:nvPr/>
        </p:nvSpPr>
        <p:spPr>
          <a:xfrm>
            <a:off x="8731151" y="3162300"/>
            <a:ext cx="29152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Transformed data to have μ=0 and σ=1</a:t>
            </a:r>
            <a:endParaRPr lang="en-US" sz="1120" dirty="0"/>
          </a:p>
        </p:txBody>
      </p:sp>
      <p:sp>
        <p:nvSpPr>
          <p:cNvPr id="36" name="Text 12"/>
          <p:cNvSpPr/>
          <p:nvPr/>
        </p:nvSpPr>
        <p:spPr>
          <a:xfrm>
            <a:off x="866775" y="438150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Standardization Matters</a:t>
            </a:r>
            <a:endParaRPr lang="en-US" sz="1380" dirty="0"/>
          </a:p>
        </p:txBody>
      </p:sp>
      <p:sp>
        <p:nvSpPr>
          <p:cNvPr id="37" name="Text 13"/>
          <p:cNvSpPr/>
          <p:nvPr/>
        </p:nvSpPr>
        <p:spPr>
          <a:xfrm>
            <a:off x="609600" y="4762500"/>
            <a:ext cx="10972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all 30 features (e.g., large area vs. small smoothness) contribute</a:t>
            </a:r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equally</a:t>
            </a:r>
            <a:pPr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model training process, preventing features with larger numerical ranges from disproportionately influencing the model.</a:t>
            </a:r>
            <a:endParaRPr lang="en-US" sz="1260" dirty="0"/>
          </a:p>
        </p:txBody>
      </p:sp>
      <p:sp>
        <p:nvSpPr>
          <p:cNvPr id="38" name="Text 14"/>
          <p:cNvSpPr/>
          <p:nvPr/>
        </p:nvSpPr>
        <p:spPr>
          <a:xfrm>
            <a:off x="381000" y="6553200"/>
            <a:ext cx="2647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770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305050"/>
            <a:ext cx="3857625" cy="1828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550" y="1905000"/>
            <a:ext cx="2472184" cy="2628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2968" y="20574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030" y="215265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7950" y="3619500"/>
            <a:ext cx="2167384" cy="762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0134" y="1905000"/>
            <a:ext cx="2472184" cy="2628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7552" y="20574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0902" y="21526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2534" y="3619500"/>
            <a:ext cx="2167384" cy="762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4718" y="1905000"/>
            <a:ext cx="2472333" cy="2628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22285" y="20574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41347" y="2152650"/>
            <a:ext cx="219075" cy="266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67118" y="3619500"/>
            <a:ext cx="2167533" cy="609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4838700"/>
            <a:ext cx="11582400" cy="1485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541020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5300" y="582930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657975"/>
            <a:ext cx="12192000" cy="4191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190500"/>
            <a:ext cx="5554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Malignancy Prediction</a:t>
            </a:r>
            <a:endParaRPr lang="en-US" sz="2040" dirty="0"/>
          </a:p>
        </p:txBody>
      </p:sp>
      <p:sp>
        <p:nvSpPr>
          <p:cNvPr id="22" name="Text 1"/>
          <p:cNvSpPr/>
          <p:nvPr/>
        </p:nvSpPr>
        <p:spPr>
          <a:xfrm>
            <a:off x="8373219" y="228600"/>
            <a:ext cx="3781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1380" dirty="0"/>
          </a:p>
        </p:txBody>
      </p:sp>
      <p:sp>
        <p:nvSpPr>
          <p:cNvPr id="23" name="Text 2"/>
          <p:cNvSpPr/>
          <p:nvPr/>
        </p:nvSpPr>
        <p:spPr>
          <a:xfrm>
            <a:off x="-274320" y="1028700"/>
            <a:ext cx="1274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Decision Tree?</a:t>
            </a:r>
            <a:endParaRPr lang="en-US" sz="1646" dirty="0"/>
          </a:p>
        </p:txBody>
      </p:sp>
      <p:sp>
        <p:nvSpPr>
          <p:cNvPr id="24" name="Text 3"/>
          <p:cNvSpPr/>
          <p:nvPr/>
        </p:nvSpPr>
        <p:spPr>
          <a:xfrm>
            <a:off x="-274320" y="1409700"/>
            <a:ext cx="12740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Chosen:</a:t>
            </a:r>
            <a:pPr algn="ctr"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Classifier</a:t>
            </a:r>
            <a:endParaRPr lang="en-US" sz="1260" dirty="0"/>
          </a:p>
        </p:txBody>
      </p:sp>
      <p:sp>
        <p:nvSpPr>
          <p:cNvPr id="25" name="Text 4"/>
          <p:cNvSpPr/>
          <p:nvPr/>
        </p:nvSpPr>
        <p:spPr>
          <a:xfrm>
            <a:off x="4209581" y="2628900"/>
            <a:ext cx="2384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1260" dirty="0"/>
          </a:p>
        </p:txBody>
      </p:sp>
      <p:sp>
        <p:nvSpPr>
          <p:cNvPr id="26" name="Text 5"/>
          <p:cNvSpPr/>
          <p:nvPr/>
        </p:nvSpPr>
        <p:spPr>
          <a:xfrm>
            <a:off x="4317950" y="2971800"/>
            <a:ext cx="21673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"White Box" provides clear, rule-based decision paths crucial for clinical trust.</a:t>
            </a:r>
            <a:endParaRPr lang="en-US" sz="980" dirty="0"/>
          </a:p>
        </p:txBody>
      </p:sp>
      <p:sp>
        <p:nvSpPr>
          <p:cNvPr id="27" name="Text 6"/>
          <p:cNvSpPr/>
          <p:nvPr/>
        </p:nvSpPr>
        <p:spPr>
          <a:xfrm>
            <a:off x="4394150" y="3695700"/>
            <a:ext cx="22164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840" dirty="0"/>
          </a:p>
        </p:txBody>
      </p:sp>
      <p:sp>
        <p:nvSpPr>
          <p:cNvPr id="28" name="Text 7"/>
          <p:cNvSpPr/>
          <p:nvPr/>
        </p:nvSpPr>
        <p:spPr>
          <a:xfrm>
            <a:off x="4394150" y="3848100"/>
            <a:ext cx="2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radius_mean &gt; 15.0 and concave_points_worst &lt; 0.1, predict Malignant."</a:t>
            </a:r>
            <a:endParaRPr lang="en-US" sz="840" dirty="0"/>
          </a:p>
        </p:txBody>
      </p:sp>
      <p:sp>
        <p:nvSpPr>
          <p:cNvPr id="29" name="Text 8"/>
          <p:cNvSpPr/>
          <p:nvPr/>
        </p:nvSpPr>
        <p:spPr>
          <a:xfrm>
            <a:off x="6834165" y="2628900"/>
            <a:ext cx="23841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</a:t>
            </a:r>
            <a:endParaRPr lang="en-US" sz="1260" dirty="0"/>
          </a:p>
        </p:txBody>
      </p:sp>
      <p:sp>
        <p:nvSpPr>
          <p:cNvPr id="30" name="Text 9"/>
          <p:cNvSpPr/>
          <p:nvPr/>
        </p:nvSpPr>
        <p:spPr>
          <a:xfrm>
            <a:off x="6942534" y="2971800"/>
            <a:ext cx="21673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no assumptions about data distribution, increasing robustness on real-world biological data.</a:t>
            </a:r>
            <a:endParaRPr lang="en-US" sz="980" dirty="0"/>
          </a:p>
        </p:txBody>
      </p:sp>
      <p:sp>
        <p:nvSpPr>
          <p:cNvPr id="31" name="Text 10"/>
          <p:cNvSpPr/>
          <p:nvPr/>
        </p:nvSpPr>
        <p:spPr>
          <a:xfrm>
            <a:off x="7018734" y="3695700"/>
            <a:ext cx="22164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</a:t>
            </a:r>
            <a:endParaRPr lang="en-US" sz="840" dirty="0"/>
          </a:p>
        </p:txBody>
      </p:sp>
      <p:sp>
        <p:nvSpPr>
          <p:cNvPr id="32" name="Text 11"/>
          <p:cNvSpPr/>
          <p:nvPr/>
        </p:nvSpPr>
        <p:spPr>
          <a:xfrm>
            <a:off x="7018734" y="3848100"/>
            <a:ext cx="2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complex, non-linear relationships between cellular features without distortion.</a:t>
            </a:r>
            <a:endParaRPr lang="en-US" sz="840" dirty="0"/>
          </a:p>
        </p:txBody>
      </p:sp>
      <p:sp>
        <p:nvSpPr>
          <p:cNvPr id="33" name="Text 12"/>
          <p:cNvSpPr/>
          <p:nvPr/>
        </p:nvSpPr>
        <p:spPr>
          <a:xfrm>
            <a:off x="9458742" y="2628900"/>
            <a:ext cx="23842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1260" dirty="0"/>
          </a:p>
        </p:txBody>
      </p:sp>
      <p:sp>
        <p:nvSpPr>
          <p:cNvPr id="34" name="Text 13"/>
          <p:cNvSpPr/>
          <p:nvPr/>
        </p:nvSpPr>
        <p:spPr>
          <a:xfrm>
            <a:off x="9567118" y="2971800"/>
            <a:ext cx="216753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identifies and prioritizes the most discriminative cell features.</a:t>
            </a:r>
            <a:endParaRPr lang="en-US" sz="980" dirty="0"/>
          </a:p>
        </p:txBody>
      </p:sp>
      <p:sp>
        <p:nvSpPr>
          <p:cNvPr id="35" name="Text 14"/>
          <p:cNvSpPr/>
          <p:nvPr/>
        </p:nvSpPr>
        <p:spPr>
          <a:xfrm>
            <a:off x="9643318" y="3695700"/>
            <a:ext cx="22166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840" dirty="0"/>
          </a:p>
        </p:txBody>
      </p:sp>
      <p:sp>
        <p:nvSpPr>
          <p:cNvPr id="36" name="Text 15"/>
          <p:cNvSpPr/>
          <p:nvPr/>
        </p:nvSpPr>
        <p:spPr>
          <a:xfrm>
            <a:off x="9643318" y="3848100"/>
            <a:ext cx="20151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future research on the most impactful cellular measurements.</a:t>
            </a:r>
            <a:endParaRPr lang="en-US" sz="840" dirty="0"/>
          </a:p>
        </p:txBody>
      </p:sp>
      <p:sp>
        <p:nvSpPr>
          <p:cNvPr id="37" name="Text 16"/>
          <p:cNvSpPr/>
          <p:nvPr/>
        </p:nvSpPr>
        <p:spPr>
          <a:xfrm>
            <a:off x="495300" y="5029200"/>
            <a:ext cx="123215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Impact</a:t>
            </a:r>
            <a:endParaRPr lang="en-US" sz="1380" dirty="0"/>
          </a:p>
        </p:txBody>
      </p:sp>
      <p:sp>
        <p:nvSpPr>
          <p:cNvPr id="38" name="Text 17"/>
          <p:cNvSpPr/>
          <p:nvPr/>
        </p:nvSpPr>
        <p:spPr>
          <a:xfrm>
            <a:off x="904875" y="5448300"/>
            <a:ext cx="8925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create a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trust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model and medical professionals by providing clear decision logic.</a:t>
            </a:r>
            <a:endParaRPr lang="en-US" sz="1120" dirty="0"/>
          </a:p>
        </p:txBody>
      </p:sp>
      <p:sp>
        <p:nvSpPr>
          <p:cNvPr id="39" name="Text 18"/>
          <p:cNvSpPr/>
          <p:nvPr/>
        </p:nvSpPr>
        <p:spPr>
          <a:xfrm>
            <a:off x="933450" y="5867400"/>
            <a:ext cx="9173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transparency enables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clinical judgment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automated predictions and professional expertise.</a:t>
            </a:r>
            <a:endParaRPr lang="en-US" sz="1120" dirty="0"/>
          </a:p>
        </p:txBody>
      </p:sp>
      <p:sp>
        <p:nvSpPr>
          <p:cNvPr id="40" name="Text 19"/>
          <p:cNvSpPr/>
          <p:nvPr/>
        </p:nvSpPr>
        <p:spPr>
          <a:xfrm>
            <a:off x="381000" y="6772275"/>
            <a:ext cx="2647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801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38300"/>
            <a:ext cx="5562600" cy="33528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8669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209800"/>
            <a:ext cx="51816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90800"/>
            <a:ext cx="5181600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971800"/>
            <a:ext cx="51816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581400"/>
            <a:ext cx="5181600" cy="609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191000"/>
            <a:ext cx="51816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5143500"/>
            <a:ext cx="5562600" cy="1905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53721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3550" y="5715000"/>
            <a:ext cx="2857500" cy="11430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638300"/>
            <a:ext cx="5562600" cy="6362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18669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2247900"/>
            <a:ext cx="5181600" cy="1371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24384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8900" y="3771900"/>
            <a:ext cx="5181600" cy="1066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91300" y="39624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4991100"/>
            <a:ext cx="5181600" cy="1295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91300" y="51816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8900" y="67818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34276" y="6781800"/>
            <a:ext cx="1524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190500"/>
            <a:ext cx="5554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Malignancy Prediction</a:t>
            </a:r>
            <a:endParaRPr lang="en-US" sz="2040" dirty="0"/>
          </a:p>
        </p:txBody>
      </p:sp>
      <p:sp>
        <p:nvSpPr>
          <p:cNvPr id="25" name="Text 1"/>
          <p:cNvSpPr/>
          <p:nvPr/>
        </p:nvSpPr>
        <p:spPr>
          <a:xfrm>
            <a:off x="8373219" y="228600"/>
            <a:ext cx="3781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1380" dirty="0"/>
          </a:p>
        </p:txBody>
      </p:sp>
      <p:sp>
        <p:nvSpPr>
          <p:cNvPr id="26" name="Text 2"/>
          <p:cNvSpPr/>
          <p:nvPr/>
        </p:nvSpPr>
        <p:spPr>
          <a:xfrm>
            <a:off x="-190500" y="1104900"/>
            <a:ext cx="1257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646" dirty="0"/>
          </a:p>
        </p:txBody>
      </p:sp>
      <p:sp>
        <p:nvSpPr>
          <p:cNvPr id="27" name="Text 3"/>
          <p:cNvSpPr/>
          <p:nvPr/>
        </p:nvSpPr>
        <p:spPr>
          <a:xfrm>
            <a:off x="838200" y="1828800"/>
            <a:ext cx="5699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380" dirty="0"/>
          </a:p>
        </p:txBody>
      </p:sp>
      <p:sp>
        <p:nvSpPr>
          <p:cNvPr id="28" name="Text 4"/>
          <p:cNvSpPr/>
          <p:nvPr/>
        </p:nvSpPr>
        <p:spPr>
          <a:xfrm>
            <a:off x="723900" y="2209800"/>
            <a:ext cx="1884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120" dirty="0"/>
          </a:p>
        </p:txBody>
      </p:sp>
      <p:sp>
        <p:nvSpPr>
          <p:cNvPr id="29" name="Text 5"/>
          <p:cNvSpPr/>
          <p:nvPr/>
        </p:nvSpPr>
        <p:spPr>
          <a:xfrm>
            <a:off x="2240935" y="2209800"/>
            <a:ext cx="958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20" dirty="0"/>
          </a:p>
        </p:txBody>
      </p:sp>
      <p:sp>
        <p:nvSpPr>
          <p:cNvPr id="30" name="Text 6"/>
          <p:cNvSpPr/>
          <p:nvPr/>
        </p:nvSpPr>
        <p:spPr>
          <a:xfrm>
            <a:off x="3308449" y="2209800"/>
            <a:ext cx="28567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20" dirty="0"/>
          </a:p>
        </p:txBody>
      </p:sp>
      <p:sp>
        <p:nvSpPr>
          <p:cNvPr id="31" name="Text 7"/>
          <p:cNvSpPr/>
          <p:nvPr/>
        </p:nvSpPr>
        <p:spPr>
          <a:xfrm>
            <a:off x="723900" y="2590800"/>
            <a:ext cx="1884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120" dirty="0"/>
          </a:p>
        </p:txBody>
      </p:sp>
      <p:sp>
        <p:nvSpPr>
          <p:cNvPr id="32" name="Text 8"/>
          <p:cNvSpPr/>
          <p:nvPr/>
        </p:nvSpPr>
        <p:spPr>
          <a:xfrm>
            <a:off x="2240935" y="2590800"/>
            <a:ext cx="958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</a:t>
            </a:r>
            <a:endParaRPr lang="en-US" sz="1120" dirty="0"/>
          </a:p>
        </p:txBody>
      </p:sp>
      <p:sp>
        <p:nvSpPr>
          <p:cNvPr id="33" name="Text 9"/>
          <p:cNvSpPr/>
          <p:nvPr/>
        </p:nvSpPr>
        <p:spPr>
          <a:xfrm>
            <a:off x="3308449" y="2590800"/>
            <a:ext cx="28567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high predictive power</a:t>
            </a:r>
            <a:endParaRPr lang="en-US" sz="1120" dirty="0"/>
          </a:p>
        </p:txBody>
      </p:sp>
      <p:sp>
        <p:nvSpPr>
          <p:cNvPr id="34" name="Text 10"/>
          <p:cNvSpPr/>
          <p:nvPr/>
        </p:nvSpPr>
        <p:spPr>
          <a:xfrm>
            <a:off x="723900" y="2971800"/>
            <a:ext cx="171301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Score</a:t>
            </a:r>
            <a:endParaRPr lang="en-US" sz="1120" dirty="0"/>
          </a:p>
        </p:txBody>
      </p:sp>
      <p:sp>
        <p:nvSpPr>
          <p:cNvPr id="35" name="Text 11"/>
          <p:cNvSpPr/>
          <p:nvPr/>
        </p:nvSpPr>
        <p:spPr>
          <a:xfrm>
            <a:off x="2240935" y="2971800"/>
            <a:ext cx="95869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92.97%</a:t>
            </a:r>
            <a:endParaRPr lang="en-US" sz="1120" dirty="0"/>
          </a:p>
        </p:txBody>
      </p:sp>
      <p:sp>
        <p:nvSpPr>
          <p:cNvPr id="36" name="Text 12"/>
          <p:cNvSpPr/>
          <p:nvPr/>
        </p:nvSpPr>
        <p:spPr>
          <a:xfrm>
            <a:off x="3308449" y="2971800"/>
            <a:ext cx="285675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performance (5-Fold CV)</a:t>
            </a:r>
            <a:endParaRPr lang="en-US" sz="1120" dirty="0"/>
          </a:p>
        </p:txBody>
      </p:sp>
      <p:sp>
        <p:nvSpPr>
          <p:cNvPr id="37" name="Text 13"/>
          <p:cNvSpPr/>
          <p:nvPr/>
        </p:nvSpPr>
        <p:spPr>
          <a:xfrm>
            <a:off x="723900" y="3581400"/>
            <a:ext cx="18843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Negatives</a:t>
            </a:r>
            <a:endParaRPr lang="en-US" sz="1120" dirty="0"/>
          </a:p>
        </p:txBody>
      </p:sp>
      <p:sp>
        <p:nvSpPr>
          <p:cNvPr id="38" name="Text 14"/>
          <p:cNvSpPr/>
          <p:nvPr/>
        </p:nvSpPr>
        <p:spPr>
          <a:xfrm>
            <a:off x="2284512" y="3581400"/>
            <a:ext cx="87153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Cases</a:t>
            </a:r>
            <a:endParaRPr lang="en-US" sz="1120" dirty="0"/>
          </a:p>
        </p:txBody>
      </p:sp>
      <p:sp>
        <p:nvSpPr>
          <p:cNvPr id="39" name="Text 15"/>
          <p:cNvSpPr/>
          <p:nvPr/>
        </p:nvSpPr>
        <p:spPr>
          <a:xfrm>
            <a:off x="3308449" y="3581400"/>
            <a:ext cx="25970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Malignant tumors classified as benign</a:t>
            </a:r>
            <a:endParaRPr lang="en-US" sz="1120" dirty="0"/>
          </a:p>
        </p:txBody>
      </p:sp>
      <p:sp>
        <p:nvSpPr>
          <p:cNvPr id="40" name="Text 16"/>
          <p:cNvSpPr/>
          <p:nvPr/>
        </p:nvSpPr>
        <p:spPr>
          <a:xfrm>
            <a:off x="723900" y="4191000"/>
            <a:ext cx="188431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120" dirty="0"/>
          </a:p>
        </p:txBody>
      </p:sp>
      <p:sp>
        <p:nvSpPr>
          <p:cNvPr id="41" name="Text 17"/>
          <p:cNvSpPr/>
          <p:nvPr/>
        </p:nvSpPr>
        <p:spPr>
          <a:xfrm>
            <a:off x="2240935" y="4191000"/>
            <a:ext cx="95869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Case</a:t>
            </a:r>
            <a:endParaRPr lang="en-US" sz="1120" dirty="0"/>
          </a:p>
        </p:txBody>
      </p:sp>
      <p:sp>
        <p:nvSpPr>
          <p:cNvPr id="42" name="Text 18"/>
          <p:cNvSpPr/>
          <p:nvPr/>
        </p:nvSpPr>
        <p:spPr>
          <a:xfrm>
            <a:off x="3308449" y="4191000"/>
            <a:ext cx="259705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tumor classified as malignant</a:t>
            </a:r>
            <a:endParaRPr lang="en-US" sz="1120" dirty="0"/>
          </a:p>
        </p:txBody>
      </p:sp>
      <p:sp>
        <p:nvSpPr>
          <p:cNvPr id="43" name="Text 19"/>
          <p:cNvSpPr/>
          <p:nvPr/>
        </p:nvSpPr>
        <p:spPr>
          <a:xfrm>
            <a:off x="838200" y="5334000"/>
            <a:ext cx="5699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1380" dirty="0"/>
          </a:p>
        </p:txBody>
      </p:sp>
      <p:sp>
        <p:nvSpPr>
          <p:cNvPr id="44" name="Text 20"/>
          <p:cNvSpPr/>
          <p:nvPr/>
        </p:nvSpPr>
        <p:spPr>
          <a:xfrm>
            <a:off x="6705600" y="1828800"/>
            <a:ext cx="5699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Analysis</a:t>
            </a:r>
            <a:endParaRPr lang="en-US" sz="1380" dirty="0"/>
          </a:p>
        </p:txBody>
      </p:sp>
      <p:sp>
        <p:nvSpPr>
          <p:cNvPr id="45" name="Text 21"/>
          <p:cNvSpPr/>
          <p:nvPr/>
        </p:nvSpPr>
        <p:spPr>
          <a:xfrm>
            <a:off x="6819900" y="2400300"/>
            <a:ext cx="536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Area: False Negatives</a:t>
            </a:r>
            <a:endParaRPr lang="en-US" sz="1120" dirty="0"/>
          </a:p>
        </p:txBody>
      </p:sp>
      <p:sp>
        <p:nvSpPr>
          <p:cNvPr id="46" name="Text 22"/>
          <p:cNvSpPr/>
          <p:nvPr/>
        </p:nvSpPr>
        <p:spPr>
          <a:xfrm>
            <a:off x="6591300" y="2705100"/>
            <a:ext cx="536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incorrectly classified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malignant tumors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benign.</a:t>
            </a:r>
            <a:endParaRPr lang="en-US" sz="1120" dirty="0"/>
          </a:p>
        </p:txBody>
      </p:sp>
      <p:sp>
        <p:nvSpPr>
          <p:cNvPr id="47" name="Text 23"/>
          <p:cNvSpPr/>
          <p:nvPr/>
        </p:nvSpPr>
        <p:spPr>
          <a:xfrm>
            <a:off x="6591300" y="30099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area for future work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it represents potentially missed diagnoses.</a:t>
            </a:r>
            <a:endParaRPr lang="en-US" sz="1120" dirty="0"/>
          </a:p>
        </p:txBody>
      </p:sp>
      <p:sp>
        <p:nvSpPr>
          <p:cNvPr id="48" name="Text 24"/>
          <p:cNvSpPr/>
          <p:nvPr/>
        </p:nvSpPr>
        <p:spPr>
          <a:xfrm>
            <a:off x="6819900" y="3924300"/>
            <a:ext cx="536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120" dirty="0"/>
          </a:p>
        </p:txBody>
      </p:sp>
      <p:sp>
        <p:nvSpPr>
          <p:cNvPr id="49" name="Text 25"/>
          <p:cNvSpPr/>
          <p:nvPr/>
        </p:nvSpPr>
        <p:spPr>
          <a:xfrm>
            <a:off x="6591300" y="4229100"/>
            <a:ext cx="536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incorrectly classified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benign tumor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malignant.</a:t>
            </a:r>
            <a:endParaRPr lang="en-US" sz="1120" dirty="0"/>
          </a:p>
        </p:txBody>
      </p:sp>
      <p:sp>
        <p:nvSpPr>
          <p:cNvPr id="50" name="Text 26"/>
          <p:cNvSpPr/>
          <p:nvPr/>
        </p:nvSpPr>
        <p:spPr>
          <a:xfrm>
            <a:off x="6591300" y="4457700"/>
            <a:ext cx="536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results in a false alarm that requires further examination.</a:t>
            </a:r>
            <a:endParaRPr lang="en-US" sz="1120" dirty="0"/>
          </a:p>
        </p:txBody>
      </p:sp>
      <p:sp>
        <p:nvSpPr>
          <p:cNvPr id="51" name="Text 27"/>
          <p:cNvSpPr/>
          <p:nvPr/>
        </p:nvSpPr>
        <p:spPr>
          <a:xfrm>
            <a:off x="6781800" y="5143500"/>
            <a:ext cx="536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120" dirty="0"/>
          </a:p>
        </p:txBody>
      </p:sp>
      <p:sp>
        <p:nvSpPr>
          <p:cNvPr id="52" name="Text 28"/>
          <p:cNvSpPr/>
          <p:nvPr/>
        </p:nvSpPr>
        <p:spPr>
          <a:xfrm>
            <a:off x="6591300" y="5448300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 demonstrates a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 accuracy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rate, but the</a:t>
            </a:r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false negatives</a:t>
            </a:r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 a critical trade-off that needs to be addressed in future model refinement.</a:t>
            </a:r>
            <a:endParaRPr lang="en-US" sz="1120" dirty="0"/>
          </a:p>
        </p:txBody>
      </p:sp>
      <p:sp>
        <p:nvSpPr>
          <p:cNvPr id="53" name="Text 29"/>
          <p:cNvSpPr/>
          <p:nvPr/>
        </p:nvSpPr>
        <p:spPr>
          <a:xfrm>
            <a:off x="6438900" y="6438900"/>
            <a:ext cx="569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Analysis:</a:t>
            </a:r>
            <a:endParaRPr lang="en-US" sz="1120" dirty="0"/>
          </a:p>
        </p:txBody>
      </p:sp>
      <p:sp>
        <p:nvSpPr>
          <p:cNvPr id="54" name="Text 30"/>
          <p:cNvSpPr/>
          <p:nvPr/>
        </p:nvSpPr>
        <p:spPr>
          <a:xfrm>
            <a:off x="6667500" y="6743700"/>
            <a:ext cx="21058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Bar Plot</a:t>
            </a:r>
            <a:endParaRPr lang="en-US" sz="1120" dirty="0"/>
          </a:p>
        </p:txBody>
      </p:sp>
      <p:sp>
        <p:nvSpPr>
          <p:cNvPr id="55" name="Text 31"/>
          <p:cNvSpPr/>
          <p:nvPr/>
        </p:nvSpPr>
        <p:spPr>
          <a:xfrm>
            <a:off x="8962876" y="6743700"/>
            <a:ext cx="1257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</a:t>
            </a:r>
            <a:endParaRPr lang="en-US" sz="1120" dirty="0"/>
          </a:p>
        </p:txBody>
      </p:sp>
      <p:sp>
        <p:nvSpPr>
          <p:cNvPr id="56" name="Text 32"/>
          <p:cNvSpPr/>
          <p:nvPr/>
        </p:nvSpPr>
        <p:spPr>
          <a:xfrm>
            <a:off x="381000" y="8496300"/>
            <a:ext cx="2647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48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562100"/>
            <a:ext cx="6760369" cy="457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1562100"/>
            <a:ext cx="1803499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299" y="1562100"/>
            <a:ext cx="2617887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186" y="1562100"/>
            <a:ext cx="2338983" cy="457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019300"/>
            <a:ext cx="6760369" cy="685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28600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705100"/>
            <a:ext cx="6760369" cy="685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390900"/>
            <a:ext cx="6760369" cy="685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36576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4800" y="4076700"/>
            <a:ext cx="6760369" cy="685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4343400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69969" y="1562100"/>
            <a:ext cx="4517231" cy="3200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60469" y="2171700"/>
            <a:ext cx="304800" cy="381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36669" y="22669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60469" y="2971800"/>
            <a:ext cx="26670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36669" y="306705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60469" y="3581400"/>
            <a:ext cx="323850" cy="381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36669" y="3676650"/>
            <a:ext cx="17145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5067300"/>
            <a:ext cx="2781300" cy="16764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71625" y="5524500"/>
            <a:ext cx="247650" cy="3429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5972175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620077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7200" y="6429375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38500" y="5067300"/>
            <a:ext cx="2781300" cy="16764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390900" y="5629275"/>
            <a:ext cx="133350" cy="1333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90900" y="5857875"/>
            <a:ext cx="85725" cy="1333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90900" y="6086475"/>
            <a:ext cx="85725" cy="1333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72200" y="5067300"/>
            <a:ext cx="2781300" cy="16764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19975" y="5524500"/>
            <a:ext cx="285750" cy="34290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24600" y="5972175"/>
            <a:ext cx="133350" cy="1333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24600" y="6200775"/>
            <a:ext cx="85725" cy="1333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324600" y="6429375"/>
            <a:ext cx="85725" cy="133350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105900" y="5067300"/>
            <a:ext cx="2781300" cy="1676400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315575" y="5524500"/>
            <a:ext cx="361950" cy="342900"/>
          </a:xfrm>
          <a:prstGeom prst="rect">
            <a:avLst/>
          </a:prstGeom>
        </p:spPr>
      </p:pic>
      <p:pic>
        <p:nvPicPr>
          <p:cNvPr id="38" name="Image 36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258300" y="5972175"/>
            <a:ext cx="133350" cy="133350"/>
          </a:xfrm>
          <a:prstGeom prst="rect">
            <a:avLst/>
          </a:prstGeom>
        </p:spPr>
      </p:pic>
      <p:pic>
        <p:nvPicPr>
          <p:cNvPr id="39" name="Image 37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258300" y="6200775"/>
            <a:ext cx="85725" cy="133350"/>
          </a:xfrm>
          <a:prstGeom prst="rect">
            <a:avLst/>
          </a:prstGeom>
        </p:spPr>
      </p:pic>
      <p:pic>
        <p:nvPicPr>
          <p:cNvPr id="40" name="Image 38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58300" y="6429375"/>
            <a:ext cx="85725" cy="13335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381000" y="190500"/>
            <a:ext cx="5554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Malignancy Prediction</a:t>
            </a:r>
            <a:endParaRPr lang="en-US" sz="2040" dirty="0"/>
          </a:p>
        </p:txBody>
      </p:sp>
      <p:sp>
        <p:nvSpPr>
          <p:cNvPr id="42" name="Text 1"/>
          <p:cNvSpPr/>
          <p:nvPr/>
        </p:nvSpPr>
        <p:spPr>
          <a:xfrm>
            <a:off x="8373219" y="228600"/>
            <a:ext cx="3781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1380" dirty="0"/>
          </a:p>
        </p:txBody>
      </p:sp>
      <p:sp>
        <p:nvSpPr>
          <p:cNvPr id="43" name="Text 2"/>
          <p:cNvSpPr/>
          <p:nvPr/>
        </p:nvSpPr>
        <p:spPr>
          <a:xfrm>
            <a:off x="-274320" y="1028700"/>
            <a:ext cx="1274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vs. Other Algorithms</a:t>
            </a:r>
            <a:endParaRPr lang="en-US" sz="1646" dirty="0"/>
          </a:p>
        </p:txBody>
      </p:sp>
      <p:sp>
        <p:nvSpPr>
          <p:cNvPr id="44" name="Text 3"/>
          <p:cNvSpPr/>
          <p:nvPr/>
        </p:nvSpPr>
        <p:spPr>
          <a:xfrm>
            <a:off x="419100" y="1562100"/>
            <a:ext cx="19838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20" dirty="0"/>
          </a:p>
        </p:txBody>
      </p:sp>
      <p:sp>
        <p:nvSpPr>
          <p:cNvPr id="45" name="Text 4"/>
          <p:cNvSpPr/>
          <p:nvPr/>
        </p:nvSpPr>
        <p:spPr>
          <a:xfrm>
            <a:off x="1977405" y="1562100"/>
            <a:ext cx="287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</a:t>
            </a:r>
            <a:endParaRPr lang="en-US" sz="1120" dirty="0"/>
          </a:p>
        </p:txBody>
      </p:sp>
      <p:sp>
        <p:nvSpPr>
          <p:cNvPr id="46" name="Text 5"/>
          <p:cNvSpPr/>
          <p:nvPr/>
        </p:nvSpPr>
        <p:spPr>
          <a:xfrm>
            <a:off x="4840486" y="1562100"/>
            <a:ext cx="25728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DT Preferred</a:t>
            </a:r>
            <a:endParaRPr lang="en-US" sz="1120" dirty="0"/>
          </a:p>
        </p:txBody>
      </p:sp>
      <p:sp>
        <p:nvSpPr>
          <p:cNvPr id="47" name="Text 6"/>
          <p:cNvSpPr/>
          <p:nvPr/>
        </p:nvSpPr>
        <p:spPr>
          <a:xfrm>
            <a:off x="628650" y="2247900"/>
            <a:ext cx="1024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120" dirty="0"/>
          </a:p>
        </p:txBody>
      </p:sp>
      <p:sp>
        <p:nvSpPr>
          <p:cNvPr id="48" name="Text 7"/>
          <p:cNvSpPr/>
          <p:nvPr/>
        </p:nvSpPr>
        <p:spPr>
          <a:xfrm>
            <a:off x="2108299" y="2019300"/>
            <a:ext cx="26178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of accuracy with interpretability</a:t>
            </a:r>
            <a:endParaRPr lang="en-US" sz="1120" dirty="0"/>
          </a:p>
        </p:txBody>
      </p:sp>
      <p:sp>
        <p:nvSpPr>
          <p:cNvPr id="49" name="Text 8"/>
          <p:cNvSpPr/>
          <p:nvPr/>
        </p:nvSpPr>
        <p:spPr>
          <a:xfrm>
            <a:off x="4840486" y="2019300"/>
            <a:ext cx="25728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top choice</a:t>
            </a:r>
            <a:endParaRPr lang="en-US" sz="1120" dirty="0"/>
          </a:p>
        </p:txBody>
      </p:sp>
      <p:sp>
        <p:nvSpPr>
          <p:cNvPr id="50" name="Text 9"/>
          <p:cNvSpPr/>
          <p:nvPr/>
        </p:nvSpPr>
        <p:spPr>
          <a:xfrm>
            <a:off x="495300" y="2933700"/>
            <a:ext cx="1155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20" dirty="0"/>
          </a:p>
        </p:txBody>
      </p:sp>
      <p:sp>
        <p:nvSpPr>
          <p:cNvPr id="51" name="Text 10"/>
          <p:cNvSpPr/>
          <p:nvPr/>
        </p:nvSpPr>
        <p:spPr>
          <a:xfrm>
            <a:off x="2108299" y="2705100"/>
            <a:ext cx="26178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accuracy / Lower interpretability</a:t>
            </a:r>
            <a:endParaRPr lang="en-US" sz="1120" dirty="0"/>
          </a:p>
        </p:txBody>
      </p:sp>
      <p:sp>
        <p:nvSpPr>
          <p:cNvPr id="52" name="Text 11"/>
          <p:cNvSpPr/>
          <p:nvPr/>
        </p:nvSpPr>
        <p:spPr>
          <a:xfrm>
            <a:off x="4840486" y="2705100"/>
            <a:ext cx="23389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transparent, harder to explain</a:t>
            </a:r>
            <a:endParaRPr lang="en-US" sz="1120" dirty="0"/>
          </a:p>
        </p:txBody>
      </p:sp>
      <p:sp>
        <p:nvSpPr>
          <p:cNvPr id="53" name="Text 12"/>
          <p:cNvSpPr/>
          <p:nvPr/>
        </p:nvSpPr>
        <p:spPr>
          <a:xfrm>
            <a:off x="647700" y="3619500"/>
            <a:ext cx="14629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20" dirty="0"/>
          </a:p>
        </p:txBody>
      </p:sp>
      <p:sp>
        <p:nvSpPr>
          <p:cNvPr id="54" name="Text 13"/>
          <p:cNvSpPr/>
          <p:nvPr/>
        </p:nvSpPr>
        <p:spPr>
          <a:xfrm>
            <a:off x="1977405" y="3390900"/>
            <a:ext cx="2879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/ Less intuitive</a:t>
            </a:r>
            <a:endParaRPr lang="en-US" sz="1120" dirty="0"/>
          </a:p>
        </p:txBody>
      </p:sp>
      <p:sp>
        <p:nvSpPr>
          <p:cNvPr id="55" name="Text 14"/>
          <p:cNvSpPr/>
          <p:nvPr/>
        </p:nvSpPr>
        <p:spPr>
          <a:xfrm>
            <a:off x="4840486" y="3390900"/>
            <a:ext cx="23389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coefficients less informative</a:t>
            </a:r>
            <a:endParaRPr lang="en-US" sz="1120" dirty="0"/>
          </a:p>
        </p:txBody>
      </p:sp>
      <p:sp>
        <p:nvSpPr>
          <p:cNvPr id="56" name="Text 15"/>
          <p:cNvSpPr/>
          <p:nvPr/>
        </p:nvSpPr>
        <p:spPr>
          <a:xfrm>
            <a:off x="685800" y="4191000"/>
            <a:ext cx="13081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endParaRPr lang="en-US" sz="1120" dirty="0"/>
          </a:p>
        </p:txBody>
      </p:sp>
      <p:sp>
        <p:nvSpPr>
          <p:cNvPr id="57" name="Text 16"/>
          <p:cNvSpPr/>
          <p:nvPr/>
        </p:nvSpPr>
        <p:spPr>
          <a:xfrm>
            <a:off x="1977405" y="4076700"/>
            <a:ext cx="2879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Instance-based / Slow prediction</a:t>
            </a:r>
            <a:endParaRPr lang="en-US" sz="1120" dirty="0"/>
          </a:p>
        </p:txBody>
      </p:sp>
      <p:sp>
        <p:nvSpPr>
          <p:cNvPr id="58" name="Text 17"/>
          <p:cNvSpPr/>
          <p:nvPr/>
        </p:nvSpPr>
        <p:spPr>
          <a:xfrm>
            <a:off x="4840486" y="4076700"/>
            <a:ext cx="23389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is fast, prediction is slow</a:t>
            </a:r>
            <a:endParaRPr lang="en-US" sz="1120" dirty="0"/>
          </a:p>
        </p:txBody>
      </p:sp>
      <p:sp>
        <p:nvSpPr>
          <p:cNvPr id="59" name="Text 18"/>
          <p:cNvSpPr/>
          <p:nvPr/>
        </p:nvSpPr>
        <p:spPr>
          <a:xfrm>
            <a:off x="7353657" y="1752600"/>
            <a:ext cx="45498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Decision Tree Was Preferred</a:t>
            </a:r>
            <a:endParaRPr lang="en-US" sz="1380" dirty="0"/>
          </a:p>
        </p:txBody>
      </p:sp>
      <p:sp>
        <p:nvSpPr>
          <p:cNvPr id="60" name="Text 19"/>
          <p:cNvSpPr/>
          <p:nvPr/>
        </p:nvSpPr>
        <p:spPr>
          <a:xfrm>
            <a:off x="7979569" y="2171700"/>
            <a:ext cx="4088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Transparency</a:t>
            </a:r>
            <a:endParaRPr lang="en-US" sz="1120" dirty="0"/>
          </a:p>
        </p:txBody>
      </p:sp>
      <p:sp>
        <p:nvSpPr>
          <p:cNvPr id="61" name="Text 20"/>
          <p:cNvSpPr/>
          <p:nvPr/>
        </p:nvSpPr>
        <p:spPr>
          <a:xfrm>
            <a:off x="7979569" y="2438400"/>
            <a:ext cx="37171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transparency and simple decision path for initial deployment</a:t>
            </a:r>
            <a:endParaRPr lang="en-US" sz="980" dirty="0"/>
          </a:p>
        </p:txBody>
      </p:sp>
      <p:sp>
        <p:nvSpPr>
          <p:cNvPr id="62" name="Text 21"/>
          <p:cNvSpPr/>
          <p:nvPr/>
        </p:nvSpPr>
        <p:spPr>
          <a:xfrm>
            <a:off x="7941469" y="2971800"/>
            <a:ext cx="30252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Insight</a:t>
            </a:r>
            <a:endParaRPr lang="en-US" sz="1120" dirty="0"/>
          </a:p>
        </p:txBody>
      </p:sp>
      <p:sp>
        <p:nvSpPr>
          <p:cNvPr id="63" name="Text 22"/>
          <p:cNvSpPr/>
          <p:nvPr/>
        </p:nvSpPr>
        <p:spPr>
          <a:xfrm>
            <a:off x="7941469" y="3238500"/>
            <a:ext cx="30252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clear, logical reasoning for diagnoses</a:t>
            </a:r>
            <a:endParaRPr lang="en-US" sz="980" dirty="0"/>
          </a:p>
        </p:txBody>
      </p:sp>
      <p:sp>
        <p:nvSpPr>
          <p:cNvPr id="64" name="Text 23"/>
          <p:cNvSpPr/>
          <p:nvPr/>
        </p:nvSpPr>
        <p:spPr>
          <a:xfrm>
            <a:off x="7998619" y="3581400"/>
            <a:ext cx="19406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1120" dirty="0"/>
          </a:p>
        </p:txBody>
      </p:sp>
      <p:sp>
        <p:nvSpPr>
          <p:cNvPr id="65" name="Text 24"/>
          <p:cNvSpPr/>
          <p:nvPr/>
        </p:nvSpPr>
        <p:spPr>
          <a:xfrm>
            <a:off x="7998619" y="3848100"/>
            <a:ext cx="19406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prediction once trained</a:t>
            </a:r>
            <a:endParaRPr lang="en-US" sz="980" dirty="0"/>
          </a:p>
        </p:txBody>
      </p:sp>
      <p:sp>
        <p:nvSpPr>
          <p:cNvPr id="66" name="Text 25"/>
          <p:cNvSpPr/>
          <p:nvPr/>
        </p:nvSpPr>
        <p:spPr>
          <a:xfrm>
            <a:off x="333375" y="52197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E4A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120" dirty="0"/>
          </a:p>
        </p:txBody>
      </p:sp>
      <p:sp>
        <p:nvSpPr>
          <p:cNvPr id="67" name="Text 26"/>
          <p:cNvSpPr/>
          <p:nvPr/>
        </p:nvSpPr>
        <p:spPr>
          <a:xfrm>
            <a:off x="476250" y="59436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interpretability</a:t>
            </a:r>
            <a:endParaRPr lang="en-US" sz="980" dirty="0"/>
          </a:p>
        </p:txBody>
      </p:sp>
      <p:sp>
        <p:nvSpPr>
          <p:cNvPr id="68" name="Text 27"/>
          <p:cNvSpPr/>
          <p:nvPr/>
        </p:nvSpPr>
        <p:spPr>
          <a:xfrm>
            <a:off x="476250" y="61722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decision path</a:t>
            </a:r>
            <a:endParaRPr lang="en-US" sz="980" dirty="0"/>
          </a:p>
        </p:txBody>
      </p:sp>
      <p:sp>
        <p:nvSpPr>
          <p:cNvPr id="69" name="Text 28"/>
          <p:cNvSpPr/>
          <p:nvPr/>
        </p:nvSpPr>
        <p:spPr>
          <a:xfrm>
            <a:off x="476250" y="64008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</a:t>
            </a:r>
            <a:endParaRPr lang="en-US" sz="980" dirty="0"/>
          </a:p>
        </p:txBody>
      </p:sp>
      <p:sp>
        <p:nvSpPr>
          <p:cNvPr id="70" name="Text 29"/>
          <p:cNvSpPr/>
          <p:nvPr/>
        </p:nvSpPr>
        <p:spPr>
          <a:xfrm>
            <a:off x="3267075" y="52197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20" dirty="0"/>
          </a:p>
        </p:txBody>
      </p:sp>
      <p:sp>
        <p:nvSpPr>
          <p:cNvPr id="71" name="Text 30"/>
          <p:cNvSpPr/>
          <p:nvPr/>
        </p:nvSpPr>
        <p:spPr>
          <a:xfrm>
            <a:off x="3409950" y="56007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accuracy</a:t>
            </a:r>
            <a:endParaRPr lang="en-US" sz="980" dirty="0"/>
          </a:p>
        </p:txBody>
      </p:sp>
      <p:sp>
        <p:nvSpPr>
          <p:cNvPr id="72" name="Text 31"/>
          <p:cNvSpPr/>
          <p:nvPr/>
        </p:nvSpPr>
        <p:spPr>
          <a:xfrm>
            <a:off x="3362325" y="58293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interpretability</a:t>
            </a:r>
            <a:endParaRPr lang="en-US" sz="980" dirty="0"/>
          </a:p>
        </p:txBody>
      </p:sp>
      <p:sp>
        <p:nvSpPr>
          <p:cNvPr id="73" name="Text 32"/>
          <p:cNvSpPr/>
          <p:nvPr/>
        </p:nvSpPr>
        <p:spPr>
          <a:xfrm>
            <a:off x="3362325" y="60579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</a:t>
            </a:r>
            <a:endParaRPr lang="en-US" sz="980" dirty="0"/>
          </a:p>
        </p:txBody>
      </p:sp>
      <p:sp>
        <p:nvSpPr>
          <p:cNvPr id="74" name="Text 33"/>
          <p:cNvSpPr/>
          <p:nvPr/>
        </p:nvSpPr>
        <p:spPr>
          <a:xfrm>
            <a:off x="6200775" y="52197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120" dirty="0"/>
          </a:p>
        </p:txBody>
      </p:sp>
      <p:sp>
        <p:nvSpPr>
          <p:cNvPr id="75" name="Text 34"/>
          <p:cNvSpPr/>
          <p:nvPr/>
        </p:nvSpPr>
        <p:spPr>
          <a:xfrm>
            <a:off x="6343650" y="59436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</a:t>
            </a:r>
            <a:endParaRPr lang="en-US" sz="980" dirty="0"/>
          </a:p>
        </p:txBody>
      </p:sp>
      <p:sp>
        <p:nvSpPr>
          <p:cNvPr id="76" name="Text 35"/>
          <p:cNvSpPr/>
          <p:nvPr/>
        </p:nvSpPr>
        <p:spPr>
          <a:xfrm>
            <a:off x="6296025" y="61722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intuitive</a:t>
            </a:r>
            <a:endParaRPr lang="en-US" sz="980" dirty="0"/>
          </a:p>
        </p:txBody>
      </p:sp>
      <p:sp>
        <p:nvSpPr>
          <p:cNvPr id="77" name="Text 36"/>
          <p:cNvSpPr/>
          <p:nvPr/>
        </p:nvSpPr>
        <p:spPr>
          <a:xfrm>
            <a:off x="6296025" y="64008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boundaries</a:t>
            </a:r>
            <a:endParaRPr lang="en-US" sz="980" dirty="0"/>
          </a:p>
        </p:txBody>
      </p:sp>
      <p:sp>
        <p:nvSpPr>
          <p:cNvPr id="78" name="Text 37"/>
          <p:cNvSpPr/>
          <p:nvPr/>
        </p:nvSpPr>
        <p:spPr>
          <a:xfrm>
            <a:off x="9134475" y="521970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endParaRPr lang="en-US" sz="1120" dirty="0"/>
          </a:p>
        </p:txBody>
      </p:sp>
      <p:sp>
        <p:nvSpPr>
          <p:cNvPr id="79" name="Text 38"/>
          <p:cNvSpPr/>
          <p:nvPr/>
        </p:nvSpPr>
        <p:spPr>
          <a:xfrm>
            <a:off x="9277350" y="59436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understand</a:t>
            </a:r>
            <a:endParaRPr lang="en-US" sz="980" dirty="0"/>
          </a:p>
        </p:txBody>
      </p:sp>
      <p:sp>
        <p:nvSpPr>
          <p:cNvPr id="80" name="Text 39"/>
          <p:cNvSpPr/>
          <p:nvPr/>
        </p:nvSpPr>
        <p:spPr>
          <a:xfrm>
            <a:off x="9229725" y="61722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Instance-based</a:t>
            </a:r>
            <a:endParaRPr lang="en-US" sz="980" dirty="0"/>
          </a:p>
        </p:txBody>
      </p:sp>
      <p:sp>
        <p:nvSpPr>
          <p:cNvPr id="81" name="Text 40"/>
          <p:cNvSpPr/>
          <p:nvPr/>
        </p:nvSpPr>
        <p:spPr>
          <a:xfrm>
            <a:off x="9229725" y="640080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prediction</a:t>
            </a:r>
            <a:endParaRPr lang="en-US" sz="980" dirty="0"/>
          </a:p>
        </p:txBody>
      </p:sp>
      <p:sp>
        <p:nvSpPr>
          <p:cNvPr id="82" name="Text 41"/>
          <p:cNvSpPr/>
          <p:nvPr/>
        </p:nvSpPr>
        <p:spPr>
          <a:xfrm>
            <a:off x="-274320" y="6896100"/>
            <a:ext cx="1274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"Decision Tree provides a compelling balance of accuracy and interpretability for early diagnostic support."</a:t>
            </a:r>
            <a:endParaRPr lang="en-US" sz="1120" dirty="0"/>
          </a:p>
        </p:txBody>
      </p:sp>
      <p:sp>
        <p:nvSpPr>
          <p:cNvPr id="83" name="Text 42"/>
          <p:cNvSpPr/>
          <p:nvPr/>
        </p:nvSpPr>
        <p:spPr>
          <a:xfrm>
            <a:off x="381000" y="7543800"/>
            <a:ext cx="2647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96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85900"/>
            <a:ext cx="3708350" cy="4991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1676400"/>
            <a:ext cx="466725" cy="495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90700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009900"/>
            <a:ext cx="3286125" cy="1714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49911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52959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56007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1750" y="1485900"/>
            <a:ext cx="3708350" cy="4991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2250" y="1676400"/>
            <a:ext cx="371475" cy="495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550" y="1790700"/>
            <a:ext cx="1428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32250" y="3219450"/>
            <a:ext cx="3327350" cy="723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2250" y="4095750"/>
            <a:ext cx="3327350" cy="914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78701" y="1485900"/>
            <a:ext cx="3708350" cy="4991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69201" y="1676400"/>
            <a:ext cx="419100" cy="495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83501" y="17907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9201" y="27051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69201" y="36957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69201" y="4686300"/>
            <a:ext cx="22860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190500"/>
            <a:ext cx="5554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 Malignancy Prediction</a:t>
            </a:r>
            <a:endParaRPr lang="en-US" sz="2040" dirty="0"/>
          </a:p>
        </p:txBody>
      </p:sp>
      <p:sp>
        <p:nvSpPr>
          <p:cNvPr id="23" name="Text 1"/>
          <p:cNvSpPr/>
          <p:nvPr/>
        </p:nvSpPr>
        <p:spPr>
          <a:xfrm>
            <a:off x="8373219" y="228600"/>
            <a:ext cx="37815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1380" dirty="0"/>
          </a:p>
        </p:txBody>
      </p:sp>
      <p:sp>
        <p:nvSpPr>
          <p:cNvPr id="24" name="Text 2"/>
          <p:cNvSpPr/>
          <p:nvPr/>
        </p:nvSpPr>
        <p:spPr>
          <a:xfrm>
            <a:off x="-274320" y="1028700"/>
            <a:ext cx="12740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Notebook to User Interface</a:t>
            </a:r>
            <a:endParaRPr lang="en-US" sz="1646" dirty="0"/>
          </a:p>
        </p:txBody>
      </p:sp>
      <p:sp>
        <p:nvSpPr>
          <p:cNvPr id="25" name="Text 3"/>
          <p:cNvSpPr/>
          <p:nvPr/>
        </p:nvSpPr>
        <p:spPr>
          <a:xfrm>
            <a:off x="1076325" y="1790700"/>
            <a:ext cx="213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Interface</a:t>
            </a:r>
            <a:endParaRPr lang="en-US" sz="1380" dirty="0"/>
          </a:p>
        </p:txBody>
      </p:sp>
      <p:sp>
        <p:nvSpPr>
          <p:cNvPr id="26" name="Text 4"/>
          <p:cNvSpPr/>
          <p:nvPr/>
        </p:nvSpPr>
        <p:spPr>
          <a:xfrm>
            <a:off x="495300" y="2324100"/>
            <a:ext cx="3327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was used to create an interactive web application:</a:t>
            </a:r>
            <a:endParaRPr lang="en-US" sz="1120" dirty="0"/>
          </a:p>
        </p:txBody>
      </p:sp>
      <p:sp>
        <p:nvSpPr>
          <p:cNvPr id="27" name="Text 5"/>
          <p:cNvSpPr/>
          <p:nvPr/>
        </p:nvSpPr>
        <p:spPr>
          <a:xfrm>
            <a:off x="723900" y="4953000"/>
            <a:ext cx="3261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30 user inputs (cell measurements)</a:t>
            </a:r>
            <a:endParaRPr lang="en-US" sz="1120" dirty="0"/>
          </a:p>
        </p:txBody>
      </p:sp>
      <p:sp>
        <p:nvSpPr>
          <p:cNvPr id="28" name="Text 6"/>
          <p:cNvSpPr/>
          <p:nvPr/>
        </p:nvSpPr>
        <p:spPr>
          <a:xfrm>
            <a:off x="723900" y="5257800"/>
            <a:ext cx="1966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input data correctly</a:t>
            </a:r>
            <a:endParaRPr lang="en-US" sz="1120" dirty="0"/>
          </a:p>
        </p:txBody>
      </p:sp>
      <p:sp>
        <p:nvSpPr>
          <p:cNvPr id="29" name="Text 7"/>
          <p:cNvSpPr/>
          <p:nvPr/>
        </p:nvSpPr>
        <p:spPr>
          <a:xfrm>
            <a:off x="723900" y="5562600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real-time diagnosis (Benign/Malignant)</a:t>
            </a:r>
            <a:endParaRPr lang="en-US" sz="1120" dirty="0"/>
          </a:p>
        </p:txBody>
      </p:sp>
      <p:sp>
        <p:nvSpPr>
          <p:cNvPr id="30" name="Text 8"/>
          <p:cNvSpPr/>
          <p:nvPr/>
        </p:nvSpPr>
        <p:spPr>
          <a:xfrm>
            <a:off x="4918025" y="1790700"/>
            <a:ext cx="1140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80" dirty="0"/>
          </a:p>
        </p:txBody>
      </p:sp>
      <p:sp>
        <p:nvSpPr>
          <p:cNvPr id="31" name="Text 9"/>
          <p:cNvSpPr/>
          <p:nvPr/>
        </p:nvSpPr>
        <p:spPr>
          <a:xfrm>
            <a:off x="4432250" y="2324100"/>
            <a:ext cx="3327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Tree Classifier provides a compelling blend of:</a:t>
            </a:r>
            <a:endParaRPr lang="en-US" sz="1120" dirty="0"/>
          </a:p>
        </p:txBody>
      </p:sp>
      <p:sp>
        <p:nvSpPr>
          <p:cNvPr id="32" name="Text 10"/>
          <p:cNvSpPr/>
          <p:nvPr/>
        </p:nvSpPr>
        <p:spPr>
          <a:xfrm>
            <a:off x="4584650" y="3390900"/>
            <a:ext cx="10695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96.4%</a:t>
            </a:r>
            <a:endParaRPr lang="en-US" sz="2426" dirty="0"/>
          </a:p>
        </p:txBody>
      </p:sp>
      <p:sp>
        <p:nvSpPr>
          <p:cNvPr id="33" name="Text 11"/>
          <p:cNvSpPr/>
          <p:nvPr/>
        </p:nvSpPr>
        <p:spPr>
          <a:xfrm>
            <a:off x="5671245" y="3371850"/>
            <a:ext cx="1891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120" dirty="0"/>
          </a:p>
        </p:txBody>
      </p:sp>
      <p:sp>
        <p:nvSpPr>
          <p:cNvPr id="34" name="Text 12"/>
          <p:cNvSpPr/>
          <p:nvPr/>
        </p:nvSpPr>
        <p:spPr>
          <a:xfrm>
            <a:off x="5671245" y="3600450"/>
            <a:ext cx="18915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high predictive power</a:t>
            </a:r>
            <a:endParaRPr lang="en-US" sz="980" dirty="0"/>
          </a:p>
        </p:txBody>
      </p:sp>
      <p:sp>
        <p:nvSpPr>
          <p:cNvPr id="35" name="Text 13"/>
          <p:cNvSpPr/>
          <p:nvPr/>
        </p:nvSpPr>
        <p:spPr>
          <a:xfrm>
            <a:off x="4584650" y="4362450"/>
            <a:ext cx="12794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92.97%</a:t>
            </a:r>
            <a:endParaRPr lang="en-US" sz="2426" dirty="0"/>
          </a:p>
        </p:txBody>
      </p:sp>
      <p:sp>
        <p:nvSpPr>
          <p:cNvPr id="36" name="Text 14"/>
          <p:cNvSpPr/>
          <p:nvPr/>
        </p:nvSpPr>
        <p:spPr>
          <a:xfrm>
            <a:off x="5862042" y="4248150"/>
            <a:ext cx="1919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Score</a:t>
            </a:r>
            <a:endParaRPr lang="en-US" sz="1120" dirty="0"/>
          </a:p>
        </p:txBody>
      </p:sp>
      <p:sp>
        <p:nvSpPr>
          <p:cNvPr id="37" name="Text 15"/>
          <p:cNvSpPr/>
          <p:nvPr/>
        </p:nvSpPr>
        <p:spPr>
          <a:xfrm>
            <a:off x="5862042" y="4476750"/>
            <a:ext cx="17451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and generalized performance</a:t>
            </a:r>
            <a:endParaRPr lang="en-US" sz="980" dirty="0"/>
          </a:p>
        </p:txBody>
      </p:sp>
      <p:sp>
        <p:nvSpPr>
          <p:cNvPr id="38" name="Text 16"/>
          <p:cNvSpPr/>
          <p:nvPr/>
        </p:nvSpPr>
        <p:spPr>
          <a:xfrm>
            <a:off x="4432250" y="5600700"/>
            <a:ext cx="3327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provides a strong foundation for an early diagnostic support tool with its crucial interpretability.</a:t>
            </a:r>
            <a:endParaRPr lang="en-US" sz="1120" dirty="0"/>
          </a:p>
        </p:txBody>
      </p:sp>
      <p:sp>
        <p:nvSpPr>
          <p:cNvPr id="39" name="Text 17"/>
          <p:cNvSpPr/>
          <p:nvPr/>
        </p:nvSpPr>
        <p:spPr>
          <a:xfrm>
            <a:off x="8902601" y="1790700"/>
            <a:ext cx="12302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80" dirty="0"/>
          </a:p>
        </p:txBody>
      </p:sp>
      <p:sp>
        <p:nvSpPr>
          <p:cNvPr id="40" name="Text 18"/>
          <p:cNvSpPr/>
          <p:nvPr/>
        </p:nvSpPr>
        <p:spPr>
          <a:xfrm>
            <a:off x="8369201" y="2324100"/>
            <a:ext cx="3660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for model improvement:</a:t>
            </a:r>
            <a:endParaRPr lang="en-US" sz="1120" dirty="0"/>
          </a:p>
        </p:txBody>
      </p:sp>
      <p:sp>
        <p:nvSpPr>
          <p:cNvPr id="41" name="Text 19"/>
          <p:cNvSpPr/>
          <p:nvPr/>
        </p:nvSpPr>
        <p:spPr>
          <a:xfrm>
            <a:off x="8712101" y="2724150"/>
            <a:ext cx="21135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260" dirty="0"/>
          </a:p>
        </p:txBody>
      </p:sp>
      <p:sp>
        <p:nvSpPr>
          <p:cNvPr id="42" name="Text 20"/>
          <p:cNvSpPr/>
          <p:nvPr/>
        </p:nvSpPr>
        <p:spPr>
          <a:xfrm>
            <a:off x="8712101" y="3086100"/>
            <a:ext cx="298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model parameters to improve performance metrics</a:t>
            </a:r>
            <a:endParaRPr lang="en-US" sz="980" dirty="0"/>
          </a:p>
        </p:txBody>
      </p:sp>
      <p:sp>
        <p:nvSpPr>
          <p:cNvPr id="43" name="Text 21"/>
          <p:cNvSpPr/>
          <p:nvPr/>
        </p:nvSpPr>
        <p:spPr>
          <a:xfrm>
            <a:off x="8712101" y="3714750"/>
            <a:ext cx="17186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</a:t>
            </a:r>
            <a:endParaRPr lang="en-US" sz="1260" dirty="0"/>
          </a:p>
        </p:txBody>
      </p:sp>
      <p:sp>
        <p:nvSpPr>
          <p:cNvPr id="44" name="Text 22"/>
          <p:cNvSpPr/>
          <p:nvPr/>
        </p:nvSpPr>
        <p:spPr>
          <a:xfrm>
            <a:off x="8712101" y="4076700"/>
            <a:ext cx="298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combining multiple algorithms for better results</a:t>
            </a:r>
            <a:endParaRPr lang="en-US" sz="980" dirty="0"/>
          </a:p>
        </p:txBody>
      </p:sp>
      <p:sp>
        <p:nvSpPr>
          <p:cNvPr id="45" name="Text 23"/>
          <p:cNvSpPr/>
          <p:nvPr/>
        </p:nvSpPr>
        <p:spPr>
          <a:xfrm>
            <a:off x="8712101" y="4705350"/>
            <a:ext cx="21595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False Negatives</a:t>
            </a:r>
            <a:endParaRPr lang="en-US" sz="1260" dirty="0"/>
          </a:p>
        </p:txBody>
      </p:sp>
      <p:sp>
        <p:nvSpPr>
          <p:cNvPr id="46" name="Text 24"/>
          <p:cNvSpPr/>
          <p:nvPr/>
        </p:nvSpPr>
        <p:spPr>
          <a:xfrm>
            <a:off x="8712101" y="5067300"/>
            <a:ext cx="298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minimizing critical false negative classifications</a:t>
            </a:r>
            <a:endParaRPr lang="en-US" sz="980" dirty="0"/>
          </a:p>
        </p:txBody>
      </p:sp>
      <p:sp>
        <p:nvSpPr>
          <p:cNvPr id="47" name="Text 25"/>
          <p:cNvSpPr/>
          <p:nvPr/>
        </p:nvSpPr>
        <p:spPr>
          <a:xfrm>
            <a:off x="8369201" y="5829300"/>
            <a:ext cx="3327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Enhance patient safety and diagnostic reliability</a:t>
            </a:r>
            <a:endParaRPr lang="en-US" sz="1120" dirty="0"/>
          </a:p>
        </p:txBody>
      </p:sp>
      <p:sp>
        <p:nvSpPr>
          <p:cNvPr id="48" name="Text 26"/>
          <p:cNvSpPr/>
          <p:nvPr/>
        </p:nvSpPr>
        <p:spPr>
          <a:xfrm>
            <a:off x="-274320" y="6705600"/>
            <a:ext cx="12740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80" dirty="0"/>
          </a:p>
        </p:txBody>
      </p:sp>
      <p:sp>
        <p:nvSpPr>
          <p:cNvPr id="49" name="Text 27"/>
          <p:cNvSpPr/>
          <p:nvPr/>
        </p:nvSpPr>
        <p:spPr>
          <a:xfrm>
            <a:off x="381000" y="7391400"/>
            <a:ext cx="26470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98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Task 01 - Decision Trees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2025-09-28T09:16:27Z</dcterms:created>
  <dcterms:modified xsi:type="dcterms:W3CDTF">2025-09-28T09:16:27Z</dcterms:modified>
</cp:coreProperties>
</file>